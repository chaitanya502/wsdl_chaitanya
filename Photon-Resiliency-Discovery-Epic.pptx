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365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DISCOVERY EPIC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Photon Framework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Initiative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Discovery &amp; Implementation Roadmap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Impact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Stakeholder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Analyzed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Year of Support Tickets &amp; Incidents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Used LLM to identify and categorize resiliency-related issues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Categorization Dimensions: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Category: Defect vs Missing Feature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Component: Cassandra, Kafka, Encryption, Circuit Breaker, etc.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Fix Type: Permanent Fix vs Workaround (+ next release status)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Version: Affected version and fixed version tracking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Discovery Findings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0116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9184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Gaps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fixed defects lack proper chaos testing and AFT coverage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291840"/>
            <a:ext cx="20116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3291840"/>
            <a:ext cx="73152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Resiliency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3749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components have offerings, others don't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20116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291840"/>
            <a:ext cx="73152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Validation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Workarounds not tracked for permanent fix status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3291840"/>
            <a:ext cx="20116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329184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Chaos Practice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3749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chaos engineering adoption across components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 Definition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01752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Photon framework resiliency components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7556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Opinionated Tech Stack components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3969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1396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High-adoption features (per PCC Adoption Report)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2374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5237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Resiliency-related defects (permanent + workarounds)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90779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9077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test implementation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3291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coverage for all resiliency scenarios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7588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6758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of existing resiliency offerings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4023360" cy="30175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371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Non-resiliency defects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1828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 (separate initiative)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47488" y="22860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vulnerabilities (security team)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7432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47488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improvements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200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47488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 development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526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Prioritization: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83080" y="45262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Opinionated Tech Stack + PCC Adoption Report → Target high-adoption components first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Initiative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Impact of DOING This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Production Incidents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029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identification of failure 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41401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682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Recovery (Lower MTTR)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6151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runbooks and recovery procedures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999232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535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Confidence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services increase trust and retention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584448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387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Efficiency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785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firefighting, more feature development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169664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239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Confidence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370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with proven resilience guarantees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325880"/>
            <a:ext cx="40233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3258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Impact of NOT DOING This 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4023360" cy="31089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828800"/>
            <a:ext cx="109728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783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Incidents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029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resiliency issues continue in production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414016"/>
            <a:ext cx="109728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3682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Outages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6151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validated recovery, longer resolution times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999232"/>
            <a:ext cx="109728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9535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issues erode customer trust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584448"/>
            <a:ext cx="109728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5387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 Growth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785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Workarounds accumulate, system fragility increases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4169664"/>
            <a:ext cx="109728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41239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Operations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4370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stuck in firefighting mode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Three-Step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10515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Fixed Defects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Past Fixes Are Full-Proof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54864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permanent fixes have chaos tests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880360"/>
            <a:ext cx="54864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AFT coverage for each fix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520440"/>
            <a:ext cx="54864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workarounds → next release fix status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160520"/>
            <a:ext cx="54864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60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gaps in testing completeness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560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1005840"/>
            <a:ext cx="265176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005840"/>
            <a:ext cx="2651760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097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Existing Resiliency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WITH Resiliency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224028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240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all resiliency-enabled components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288036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capabilities present?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29000" y="352044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with chaos engineering?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416052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4160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AFT coverage achieved?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560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26480" y="1005840"/>
            <a:ext cx="265176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005840"/>
            <a:ext cx="2651760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097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Resiliency Gaps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WITHOUT Resiliency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224028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240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components lacking resiliency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28803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appropriate patterns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352044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required capabilities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416052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160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chaos testing + AFT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Engineering Practices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Resiliency to Make Systems Full-Proof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60020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1600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First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expected behavior under failure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600200"/>
            <a:ext cx="160020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2194560" y="1600200"/>
            <a:ext cx="1600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267712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Events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67712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actual production failures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31920" y="1600200"/>
            <a:ext cx="160020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1600200"/>
            <a:ext cx="1600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005072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Testing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5072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where it matters (safely)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69280" y="1600200"/>
            <a:ext cx="160020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1600200"/>
            <a:ext cx="1600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742432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Automation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42432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in CI/CD pipeline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06640" y="1600200"/>
            <a:ext cx="160020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6640" y="1600200"/>
            <a:ext cx="1600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479792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Blast Radius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79792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expand gradually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Testing Categories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20116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54680"/>
            <a:ext cx="2011680" cy="365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566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 termination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fill / CPU stress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pressure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526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Zone failures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06040" y="3154680"/>
            <a:ext cx="20116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315468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260604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97480" y="3566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Latency injection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97480" y="3886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Packet loss / drops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97480" y="4206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DNS failures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97480" y="4526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Connection timeouts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154680"/>
            <a:ext cx="20116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154680"/>
            <a:ext cx="201168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3566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crashes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3886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Dependency failures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4206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Thread exhaustion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4526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Exception injection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3154680"/>
            <a:ext cx="20116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3154680"/>
            <a:ext cx="20116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690372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95160" y="3566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Replication lag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3886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corruption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95160" y="4206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Partition simulation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95160" y="4526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Backup/restore failures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 Coverage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Functional Testing for Full-Proof Resiliency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AFT Must Cover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Injection: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664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handles injected failures gracefully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157984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Validation: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4884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recovery to healthy state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596896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42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Behavior: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8840" y="25420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handling of operation timeouts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03580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809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Exhaustion: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29809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when all retries fail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474720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198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States: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48840" y="34198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half-open, closed transitions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913632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587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Execution: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8840" y="3858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mechanisms activate correctly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4352544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97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Consistency: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48840" y="4297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loss/corruption during failures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 Points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600200"/>
            <a:ext cx="402336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7373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1719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1719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Unit-level resiliency tests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60620" y="2057400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00600" y="23317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3134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0" y="2313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chaos tests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60620" y="2651760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00600" y="29260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29077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Pre-Deploy Gate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0" y="29077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resiliency suite execution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60620" y="3246120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800600" y="35204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3502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Post-Deploy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83680" y="3502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+ chaos validation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60620" y="3840480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00600" y="41148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4096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83680" y="4096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chaos experiments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Criteria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Define "Done" and Measure Success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Validation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Fixes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permanent fixes have chaos tests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permanent fixes have AFT coverage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workarounds tracked with fix status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untested fixes in production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280160"/>
            <a:ext cx="265176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280160"/>
            <a:ext cx="2651760" cy="5943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353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6276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Full-Proof Testing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1965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19659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priority components have chaos experiments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24231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tests integrated in CI/CD pipeline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880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11880" y="28803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days conducted for critical paths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337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11880" y="33375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validated through chaos testing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280160"/>
            <a:ext cx="265176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280160"/>
            <a:ext cx="26517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353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16276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Validation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1965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19659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resiliency scenarios have automated tests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24231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execute on every deployment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2880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28803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testing required for resiliency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3337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33375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metrics visible in dashboard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4434840"/>
            <a:ext cx="201168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480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54480" y="44805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 min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Recovery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606040" y="4434840"/>
            <a:ext cx="201168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2697480" y="4480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Coverage: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03320" y="44805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697480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components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4434840"/>
            <a:ext cx="201168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480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Pass Rate: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52160" y="44805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99%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46320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tests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03720" y="4434840"/>
            <a:ext cx="201168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3"/>
          <p:cNvSpPr/>
          <p:nvPr/>
        </p:nvSpPr>
        <p:spPr>
          <a:xfrm>
            <a:off x="6995160" y="4480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Incidents/Month: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001000" y="44805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95160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related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Assessment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9601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42032" y="9601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13632" y="96012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Tested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68112" y="9601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39712" y="96012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53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14356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3533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13632" y="14356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3533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68112" y="14356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3533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109728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18105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18928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18105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13632" y="18928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18105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68112" y="18928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18105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1828800"/>
            <a:ext cx="109728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2677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42032" y="23500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0" y="22677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13632" y="23500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0" y="22677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68112" y="23500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22677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0" y="2286000"/>
            <a:ext cx="10972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27249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Service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42032" y="28072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0" y="27249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13632" y="28072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0" y="27249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68112" y="28072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5669280" y="27249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49440" y="2743200"/>
            <a:ext cx="10972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31821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542032" y="3264408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0" y="31821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913632" y="3264408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0" y="31821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68112" y="3264408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7" name="Text 55"/>
          <p:cNvSpPr/>
          <p:nvPr/>
        </p:nvSpPr>
        <p:spPr>
          <a:xfrm>
            <a:off x="5669280" y="31821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49440" y="3200400"/>
            <a:ext cx="109728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9" name="Text 57"/>
          <p:cNvSpPr/>
          <p:nvPr/>
        </p:nvSpPr>
        <p:spPr>
          <a:xfrm>
            <a:off x="694944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" y="3639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542032" y="3721608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0" y="36393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913632" y="3721608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5" name="Text 63"/>
          <p:cNvSpPr/>
          <p:nvPr/>
        </p:nvSpPr>
        <p:spPr>
          <a:xfrm>
            <a:off x="4114800" y="36393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68112" y="3721608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7" name="Text 65"/>
          <p:cNvSpPr/>
          <p:nvPr/>
        </p:nvSpPr>
        <p:spPr>
          <a:xfrm>
            <a:off x="5669280" y="36393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49440" y="3657600"/>
            <a:ext cx="109728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9" name="Text 67"/>
          <p:cNvSpPr/>
          <p:nvPr/>
        </p:nvSpPr>
        <p:spPr>
          <a:xfrm>
            <a:off x="694944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40965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Service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542032" y="41788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0" y="40965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913632" y="41788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5" name="Text 73"/>
          <p:cNvSpPr/>
          <p:nvPr/>
        </p:nvSpPr>
        <p:spPr>
          <a:xfrm>
            <a:off x="4114800" y="40965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468112" y="4178808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7" name="Text 75"/>
          <p:cNvSpPr/>
          <p:nvPr/>
        </p:nvSpPr>
        <p:spPr>
          <a:xfrm>
            <a:off x="5669280" y="40965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949440" y="4114800"/>
            <a:ext cx="10972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9" name="Text 77"/>
          <p:cNvSpPr/>
          <p:nvPr/>
        </p:nvSpPr>
        <p:spPr>
          <a:xfrm>
            <a:off x="694944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0352" y="45537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542032" y="46360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3" name="Text 81"/>
          <p:cNvSpPr/>
          <p:nvPr/>
        </p:nvSpPr>
        <p:spPr>
          <a:xfrm>
            <a:off x="2743200" y="45537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913632" y="46360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5" name="Text 83"/>
          <p:cNvSpPr/>
          <p:nvPr/>
        </p:nvSpPr>
        <p:spPr>
          <a:xfrm>
            <a:off x="4114800" y="45537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468112" y="46360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7" name="Text 85"/>
          <p:cNvSpPr/>
          <p:nvPr/>
        </p:nvSpPr>
        <p:spPr>
          <a:xfrm>
            <a:off x="5669280" y="45537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949440" y="4572000"/>
            <a:ext cx="10972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9" name="Text 87"/>
          <p:cNvSpPr/>
          <p:nvPr/>
        </p:nvSpPr>
        <p:spPr>
          <a:xfrm>
            <a:off x="694944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57200" y="4983480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188720" y="4983480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2" name="Text 90"/>
          <p:cNvSpPr/>
          <p:nvPr/>
        </p:nvSpPr>
        <p:spPr>
          <a:xfrm>
            <a:off x="1353312" y="4937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Complete/Yes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743200" y="498348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4" name="Text 92"/>
          <p:cNvSpPr/>
          <p:nvPr/>
        </p:nvSpPr>
        <p:spPr>
          <a:xfrm>
            <a:off x="2907792" y="4937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297680" y="4983480"/>
            <a:ext cx="118872" cy="11887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6" name="Text 94"/>
          <p:cNvSpPr/>
          <p:nvPr/>
        </p:nvSpPr>
        <p:spPr>
          <a:xfrm>
            <a:off x="4462272" y="4937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No/Pending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508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280160"/>
            <a:ext cx="182880" cy="1828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201168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606040"/>
            <a:ext cx="91440" cy="914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defect audit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91440" cy="914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00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chaos framework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977640"/>
            <a:ext cx="91440" cy="914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AFT baseline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28016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164592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1645920"/>
            <a:ext cx="201168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4-8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2176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6060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2514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component chaos tests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32918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3200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validation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9776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886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 AFT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128016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164592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645920"/>
            <a:ext cx="201168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176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260604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2514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components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29184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3200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implementations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397764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3886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AFT coverage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0" y="128016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6903720" y="164592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1645920"/>
            <a:ext cx="2011680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0372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03720" y="2176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40880" y="26060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7223760" y="2514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chaos experiments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40880" y="32918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7223760" y="3200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monitoring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040880" y="3977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7223760" y="3886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to Begin the Initiative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81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Component Priority List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with PCC adoption data and opinionated tech stack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0" y="1600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0" y="1572768"/>
            <a:ext cx="1371600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572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04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Chaos Testing 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560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chaos engineering tools and establish baselines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Team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2395728"/>
            <a:ext cx="1371600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3957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272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108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Defect Validation Audit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fixed defects for chaos test and AFT coverage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3246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Team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3218688"/>
            <a:ext cx="1371600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2186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950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88720" y="3931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Success Metrics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206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tracking for all KPIs and progress indicators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49440" y="4041648"/>
            <a:ext cx="1371600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4041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|  Photon Framework Resiliency Team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Opinionated Tech Stack + PCC high-adoption components with defined boundaries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73152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155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Impact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incidents, improved MTTR, customer confidence vs continued firefighting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14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73152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957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Approach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Three-step methodology: Validate fixes → Audit existing → Address gaps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286000"/>
            <a:ext cx="73152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957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testing across infrastructure, network, application, and data layers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114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66160"/>
            <a:ext cx="73152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75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AFT Coverage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for all resiliency scenarios integrated into CI/CD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566160"/>
            <a:ext cx="73152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75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Success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0233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criteria: 100% chaos coverage, 100% AFT, &lt;15 min MTTR, &lt;3 incidents/month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 a more resilient Photon Framework!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Photon Resiliency Discovery</dc:title>
  <dc:subject>Technical Stakeholder Presentation</dc:subject>
  <dc:creator>Photon Framework Team</dc:creator>
  <cp:lastModifiedBy>Photon Framework Team</cp:lastModifiedBy>
  <cp:revision>1</cp:revision>
  <dcterms:created xsi:type="dcterms:W3CDTF">2026-02-01T17:33:34Z</dcterms:created>
  <dcterms:modified xsi:type="dcterms:W3CDTF">2026-02-01T17:33:34Z</dcterms:modified>
</cp:coreProperties>
</file>