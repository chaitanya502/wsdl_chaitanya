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Photon Framework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Initiative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Fault-Tolerant Systems Through Chaos Engineering &amp; AFT Coverage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152951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4160520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Impact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4160520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4160520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Coverage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4160520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 analysis and resiliency categorization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Definition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scope, prioritization criteria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of doing vs not doing this 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Three-Step Approach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for resiliency 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 Practices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resiliency with proven techniques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06324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0352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Coverage Strategy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full-proof automated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0584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completion and quality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02336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352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Next Steps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and immediate actions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 &amp; Context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1 year of support tickets and incidents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LLM to identify and categorize resiliency-related issues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each ticket by: Category (Defect/Missing Feature), Component (Cassandra, Kafka, Encryption, etc.),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Fix Type (Permanent/Workaround), Affected Version, and Next Release Fix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011680" cy="16459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00400"/>
            <a:ext cx="201168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Issues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portion of tickets relate to system resilience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200400"/>
            <a:ext cx="2011680" cy="16459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3200400"/>
            <a:ext cx="201168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Gaps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components lack proper resiliency mechanisms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2011680" cy="16459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200400"/>
            <a:ext cx="201168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Gaps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fixes lack chaos engineering validation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3200400"/>
            <a:ext cx="2011680" cy="16459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3200400"/>
            <a:ext cx="201168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Coverage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automated functional test coverage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 Definition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743200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Photon framework components with resiliency offerings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810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identified from Opinionated Tech 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579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High-adoption components per PCC Adoption Report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50545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5054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categorized as resiliency-related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8529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8529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Workarounds pending permanent fixes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 test implementation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54787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47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coverage for all resiliency scenarios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4023360" cy="27432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46304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Non-resiliency related defects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8745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 (separate initiative)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2860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vulnerabilities (handled by security team)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6974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improvements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enhancements not related to fault tolerance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ED7AA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Prioritization: 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0" y="44348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Opinionated Tech Stack components + PCC Adoption Report high-adoption features targeted first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 Matters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Doing This 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3108960"/>
          </a:xfrm>
          <a:prstGeom prst="rect">
            <a:avLst/>
          </a:prstGeom>
          <a:solidFill>
            <a:srgbClr val="F0FFF4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74520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Downtime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084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production incidents and faster recovery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441448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95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Trust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reliability increases customer confidence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008376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626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218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firefighting, reduced support escalations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575304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295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Releases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7856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 deployments with proven resilience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4142232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096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3525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testing finds issues before production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NOT Doing This Work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737360"/>
            <a:ext cx="4023360" cy="3108960"/>
          </a:xfrm>
          <a:prstGeom prst="rect">
            <a:avLst/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1874520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Incidents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2084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resiliency issues keep recurring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441448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395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issues drive customers away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008376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29626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3218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Workarounds accumulate, system becomes fragile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575304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35295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Operations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4920" y="37856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stuck in firefighting mode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4142232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4096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Failures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43525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confidence in system behavior under stress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Three-Step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38404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10058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Fixed Defects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Quality of Past Fixes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240280"/>
            <a:ext cx="73152" cy="4114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all permanent fixes have chaos testing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834640"/>
            <a:ext cx="73152" cy="4114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34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AFT coverage for each fix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429000"/>
            <a:ext cx="73152" cy="4114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workarounds → identify if fixed in next release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023360"/>
            <a:ext cx="73152" cy="4114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on testing completeness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2560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91840" y="1051560"/>
            <a:ext cx="2651760" cy="38404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051560"/>
            <a:ext cx="2651760" cy="100584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42900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Existing Resiliency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WITH Resiliency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2240280"/>
            <a:ext cx="73152" cy="41148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all components with resiliency offerings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2834640"/>
            <a:ext cx="73152" cy="41148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2834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Evaluate: Are all required capabilities present?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29000" y="3429000"/>
            <a:ext cx="73152" cy="41148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28" name="Text 26"/>
          <p:cNvSpPr/>
          <p:nvPr/>
        </p:nvSpPr>
        <p:spPr>
          <a:xfrm>
            <a:off x="361188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Validate: Tested with chaos engineering?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29000" y="4023360"/>
            <a:ext cx="73152" cy="41148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Confirm: Full AFT coverage achieved?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2560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126480" y="1051560"/>
            <a:ext cx="2651760" cy="38404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051560"/>
            <a:ext cx="2651760" cy="10058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26364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Resiliency Gaps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WITHOUT Resiliency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2240280"/>
            <a:ext cx="73152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components lacking resiliency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2834640"/>
            <a:ext cx="73152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2834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which practices make sense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3429000"/>
            <a:ext cx="73152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appropriate patterns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4023360"/>
            <a:ext cx="73152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same chaos + AFT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Chaos Engineering Practices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Resiliency to Make Systems Full-Proof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 We Follow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600200" cy="12344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1600200" cy="54864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1051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Hypothesis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expected system behavior under failure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1691640"/>
            <a:ext cx="1600200" cy="12344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2194560" y="1691640"/>
            <a:ext cx="1600200" cy="54864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81051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Real-World Events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2402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actual failure scenarios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1691640"/>
            <a:ext cx="1600200" cy="12344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1691640"/>
            <a:ext cx="1600200" cy="54864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181051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 Production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22402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where it matters most (safely)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1691640"/>
            <a:ext cx="1600200" cy="12344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1691640"/>
            <a:ext cx="1600200" cy="54864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181051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Continuously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22402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chaos tests in CI/CD pipeline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1691640"/>
            <a:ext cx="1600200" cy="12344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Shape 21"/>
          <p:cNvSpPr/>
          <p:nvPr/>
        </p:nvSpPr>
        <p:spPr>
          <a:xfrm>
            <a:off x="7406640" y="1691640"/>
            <a:ext cx="1600200" cy="54864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181051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Blast Radius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22402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expand gradually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Testing Categories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2011680" cy="1508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474720"/>
            <a:ext cx="73152" cy="1508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886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 termination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142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 fill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CPU stress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46542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pressure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06040" y="3474720"/>
            <a:ext cx="2011680" cy="1508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06040" y="3474720"/>
            <a:ext cx="73152" cy="1508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6" name="Text 34"/>
          <p:cNvSpPr/>
          <p:nvPr/>
        </p:nvSpPr>
        <p:spPr>
          <a:xfrm>
            <a:off x="278892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88920" y="3886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Latency injection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88920" y="4142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Packet loss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8892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DNS failures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88920" y="46542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Connection drops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474720"/>
            <a:ext cx="2011680" cy="1508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474720"/>
            <a:ext cx="73152" cy="1508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3886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crashes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37760" y="4142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Dependency failures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3776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Thread exhaustion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37760" y="46542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Exception injection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3474720"/>
            <a:ext cx="2011680" cy="1508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3474720"/>
            <a:ext cx="73152" cy="1508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0" name="Text 48"/>
          <p:cNvSpPr/>
          <p:nvPr/>
        </p:nvSpPr>
        <p:spPr>
          <a:xfrm>
            <a:off x="708660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86600" y="3886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corruption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86600" y="4142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Replication lag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8660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Partition simulation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86600" y="46542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Backup failures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 Coverage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Functional Testing for Full-Proof Resiliency Validation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AFT Must Cover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023360" cy="32004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Injection Tests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system handles injected failures gracefully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212848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671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167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system recovers to healthy state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642616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968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Behavior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5968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correct handling of operation timeouts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072384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2666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Exhaustion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30266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behavior when all retries fail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502152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4564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States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3456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open, half-open, closed transitions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931920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886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Execution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fallback mechanisms activate correctly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4361688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Consistency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4315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no data loss or corruption during failures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Integration Points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645920"/>
            <a:ext cx="4023360" cy="32004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783080"/>
            <a:ext cx="320040" cy="320040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Unit-level resiliency tests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60620" y="2103120"/>
            <a:ext cx="0" cy="246888"/>
          </a:xfrm>
          <a:prstGeom prst="line">
            <a:avLst/>
          </a:prstGeom>
          <a:noFill/>
          <a:ln w="12700">
            <a:solidFill>
              <a:srgbClr val="319795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00600" y="2350008"/>
            <a:ext cx="320040" cy="320040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350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2350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2350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chaos tests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60620" y="2670048"/>
            <a:ext cx="0" cy="246888"/>
          </a:xfrm>
          <a:prstGeom prst="line">
            <a:avLst/>
          </a:prstGeom>
          <a:noFill/>
          <a:ln w="12700">
            <a:solidFill>
              <a:srgbClr val="319795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00600" y="2916936"/>
            <a:ext cx="320040" cy="320040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2916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2916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Pre-Deploy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2916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resiliency suite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60620" y="3236976"/>
            <a:ext cx="0" cy="246888"/>
          </a:xfrm>
          <a:prstGeom prst="line">
            <a:avLst/>
          </a:prstGeom>
          <a:noFill/>
          <a:ln w="12700">
            <a:solidFill>
              <a:srgbClr val="319795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800600" y="3483864"/>
            <a:ext cx="320040" cy="320040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34838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34838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Post-Deploy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83680" y="34838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+ chaos validation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60620" y="3803904"/>
            <a:ext cx="0" cy="246888"/>
          </a:xfrm>
          <a:prstGeom prst="line">
            <a:avLst/>
          </a:prstGeom>
          <a:noFill/>
          <a:ln w="12700">
            <a:solidFill>
              <a:srgbClr val="319795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800600" y="4050792"/>
            <a:ext cx="320040" cy="320040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4050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12080" y="4050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83680" y="4050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chaos experiments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Define "Done" and Measure Quality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2743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029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Validation Complete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permanent fixes have chaos tests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permanent fixes have AFT coverage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workarounds tracked with next-release status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untested resiliency fixes in production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325880"/>
            <a:ext cx="2651760" cy="2743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325880"/>
            <a:ext cx="2651760" cy="502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 Maturity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priority components have chaos experiments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24231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tests integrated in CI/CD pipeline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2926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days conducted for critical paths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validated through chaos testing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325880"/>
            <a:ext cx="2651760" cy="2743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325880"/>
            <a:ext cx="2651760" cy="50292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Coverage Achieved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9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resiliency scenarios have automated tests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9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24231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execute on every deployment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9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2926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testing required for resiliency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9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metrics visible in dashboard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to Track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526280"/>
            <a:ext cx="201168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5720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MTTR: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371600" y="45720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 min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4754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Recovery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606040" y="4526280"/>
            <a:ext cx="201168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4" name="Text 42"/>
          <p:cNvSpPr/>
          <p:nvPr/>
        </p:nvSpPr>
        <p:spPr>
          <a:xfrm>
            <a:off x="2697480" y="45720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Coverage: 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520440" y="45720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97480" y="4754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components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0" y="4526280"/>
            <a:ext cx="201168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45720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Pass Rate: 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69280" y="45720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99%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46320" y="4754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tests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903720" y="4526280"/>
            <a:ext cx="201168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2" name="Text 50"/>
          <p:cNvSpPr/>
          <p:nvPr/>
        </p:nvSpPr>
        <p:spPr>
          <a:xfrm>
            <a:off x="6995160" y="45720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Incidents/Month: 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818120" y="45720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95160" y="4754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related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 Assessment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051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Resiliency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051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Tested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0" y="1051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Covered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82296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904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554480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4904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1554480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14904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1554480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14904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1508760"/>
            <a:ext cx="1005840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5087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1856232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9293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1993392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19293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31920" y="1993392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5" name="Text 23"/>
          <p:cNvSpPr/>
          <p:nvPr/>
        </p:nvSpPr>
        <p:spPr>
          <a:xfrm>
            <a:off x="4160520" y="19293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94960" y="1993392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19293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1947672"/>
            <a:ext cx="1005840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9476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295144"/>
            <a:ext cx="82296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3682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68880" y="2432304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33" name="Text 31"/>
          <p:cNvSpPr/>
          <p:nvPr/>
        </p:nvSpPr>
        <p:spPr>
          <a:xfrm>
            <a:off x="2697480" y="23682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31920" y="2432304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35" name="Text 33"/>
          <p:cNvSpPr/>
          <p:nvPr/>
        </p:nvSpPr>
        <p:spPr>
          <a:xfrm>
            <a:off x="4160520" y="23682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94960" y="2432304"/>
            <a:ext cx="164592" cy="164592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37" name="Text 35"/>
          <p:cNvSpPr/>
          <p:nvPr/>
        </p:nvSpPr>
        <p:spPr>
          <a:xfrm>
            <a:off x="5623560" y="23682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9440" y="2386584"/>
            <a:ext cx="1005840" cy="2560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23865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2734056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28072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Service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68880" y="2871216"/>
            <a:ext cx="164592" cy="164592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43" name="Text 41"/>
          <p:cNvSpPr/>
          <p:nvPr/>
        </p:nvSpPr>
        <p:spPr>
          <a:xfrm>
            <a:off x="2697480" y="2807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31920" y="2871216"/>
            <a:ext cx="164592" cy="164592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45" name="Text 43"/>
          <p:cNvSpPr/>
          <p:nvPr/>
        </p:nvSpPr>
        <p:spPr>
          <a:xfrm>
            <a:off x="4160520" y="2807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94960" y="2871216"/>
            <a:ext cx="164592" cy="164592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47" name="Text 45"/>
          <p:cNvSpPr/>
          <p:nvPr/>
        </p:nvSpPr>
        <p:spPr>
          <a:xfrm>
            <a:off x="5623560" y="2807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49440" y="2825496"/>
            <a:ext cx="1005840" cy="2560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49" name="Text 47"/>
          <p:cNvSpPr/>
          <p:nvPr/>
        </p:nvSpPr>
        <p:spPr>
          <a:xfrm>
            <a:off x="6949440" y="28254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3172968"/>
            <a:ext cx="82296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246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468880" y="3310128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53" name="Text 51"/>
          <p:cNvSpPr/>
          <p:nvPr/>
        </p:nvSpPr>
        <p:spPr>
          <a:xfrm>
            <a:off x="2697480" y="32461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931920" y="3310128"/>
            <a:ext cx="164592" cy="164592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55" name="Text 53"/>
          <p:cNvSpPr/>
          <p:nvPr/>
        </p:nvSpPr>
        <p:spPr>
          <a:xfrm>
            <a:off x="4160520" y="32461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394960" y="3310128"/>
            <a:ext cx="164592" cy="164592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57" name="Text 55"/>
          <p:cNvSpPr/>
          <p:nvPr/>
        </p:nvSpPr>
        <p:spPr>
          <a:xfrm>
            <a:off x="5623560" y="32461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49440" y="3264408"/>
            <a:ext cx="1005840" cy="256032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59" name="Text 57"/>
          <p:cNvSpPr/>
          <p:nvPr/>
        </p:nvSpPr>
        <p:spPr>
          <a:xfrm>
            <a:off x="6949440" y="32644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3611880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3685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468880" y="3749040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63" name="Text 61"/>
          <p:cNvSpPr/>
          <p:nvPr/>
        </p:nvSpPr>
        <p:spPr>
          <a:xfrm>
            <a:off x="2697480" y="3685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931920" y="3749040"/>
            <a:ext cx="164592" cy="164592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65" name="Text 63"/>
          <p:cNvSpPr/>
          <p:nvPr/>
        </p:nvSpPr>
        <p:spPr>
          <a:xfrm>
            <a:off x="4160520" y="3685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394960" y="3749040"/>
            <a:ext cx="164592" cy="164592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67" name="Text 65"/>
          <p:cNvSpPr/>
          <p:nvPr/>
        </p:nvSpPr>
        <p:spPr>
          <a:xfrm>
            <a:off x="5623560" y="3685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49440" y="3703320"/>
            <a:ext cx="1005840" cy="256032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69" name="Text 67"/>
          <p:cNvSpPr/>
          <p:nvPr/>
        </p:nvSpPr>
        <p:spPr>
          <a:xfrm>
            <a:off x="6949440" y="3703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4050792"/>
            <a:ext cx="82296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41239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Service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468880" y="4187952"/>
            <a:ext cx="164592" cy="164592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73" name="Text 71"/>
          <p:cNvSpPr/>
          <p:nvPr/>
        </p:nvSpPr>
        <p:spPr>
          <a:xfrm>
            <a:off x="2697480" y="41239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931920" y="4187952"/>
            <a:ext cx="164592" cy="164592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75" name="Text 73"/>
          <p:cNvSpPr/>
          <p:nvPr/>
        </p:nvSpPr>
        <p:spPr>
          <a:xfrm>
            <a:off x="4160520" y="41239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394960" y="4187952"/>
            <a:ext cx="164592" cy="164592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77" name="Text 75"/>
          <p:cNvSpPr/>
          <p:nvPr/>
        </p:nvSpPr>
        <p:spPr>
          <a:xfrm>
            <a:off x="5623560" y="41239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949440" y="4142232"/>
            <a:ext cx="1005840" cy="2560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79" name="Text 77"/>
          <p:cNvSpPr/>
          <p:nvPr/>
        </p:nvSpPr>
        <p:spPr>
          <a:xfrm>
            <a:off x="6949440" y="41422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7200" y="4489704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45628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468880" y="4626864"/>
            <a:ext cx="164592" cy="164592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83" name="Text 81"/>
          <p:cNvSpPr/>
          <p:nvPr/>
        </p:nvSpPr>
        <p:spPr>
          <a:xfrm>
            <a:off x="2697480" y="45628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931920" y="4626864"/>
            <a:ext cx="164592" cy="164592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85" name="Text 83"/>
          <p:cNvSpPr/>
          <p:nvPr/>
        </p:nvSpPr>
        <p:spPr>
          <a:xfrm>
            <a:off x="4160520" y="45628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394960" y="4626864"/>
            <a:ext cx="164592" cy="164592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87" name="Text 85"/>
          <p:cNvSpPr/>
          <p:nvPr/>
        </p:nvSpPr>
        <p:spPr>
          <a:xfrm>
            <a:off x="5623560" y="45628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949440" y="4581144"/>
            <a:ext cx="1005840" cy="2560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89" name="Text 87"/>
          <p:cNvSpPr/>
          <p:nvPr/>
        </p:nvSpPr>
        <p:spPr>
          <a:xfrm>
            <a:off x="6949440" y="45811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57200" y="498348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280160" y="4983480"/>
            <a:ext cx="137160" cy="1371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92" name="Text 90"/>
          <p:cNvSpPr/>
          <p:nvPr/>
        </p:nvSpPr>
        <p:spPr>
          <a:xfrm>
            <a:off x="1463040" y="4937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Complete/Yes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926080" y="4983480"/>
            <a:ext cx="137160" cy="13716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94" name="Text 92"/>
          <p:cNvSpPr/>
          <p:nvPr/>
        </p:nvSpPr>
        <p:spPr>
          <a:xfrm>
            <a:off x="3108960" y="4937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572000" y="4983480"/>
            <a:ext cx="137160" cy="13716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96" name="Text 94"/>
          <p:cNvSpPr/>
          <p:nvPr/>
        </p:nvSpPr>
        <p:spPr>
          <a:xfrm>
            <a:off x="4754880" y="4937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No/Pending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50800">
            <a:solidFill>
              <a:srgbClr val="ED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371600"/>
            <a:ext cx="182880" cy="1828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2011680" cy="31089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2011680" cy="7315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10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651760"/>
            <a:ext cx="109728" cy="10972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defect audit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291840"/>
            <a:ext cx="109728" cy="10972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00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chaos testing framework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931920"/>
            <a:ext cx="109728" cy="10972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AFT baseline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1371600"/>
            <a:ext cx="182880" cy="182880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1737360"/>
            <a:ext cx="2011680" cy="31089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1737360"/>
            <a:ext cx="2011680" cy="73152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1810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4-8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651760"/>
            <a:ext cx="109728" cy="109728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2560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Cassandra, Kafka chaos tests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3291840"/>
            <a:ext cx="109728" cy="109728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3200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validation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3931920"/>
            <a:ext cx="109728" cy="109728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8404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 for critical paths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23560" y="1371600"/>
            <a:ext cx="182880" cy="1828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1737360"/>
            <a:ext cx="2011680" cy="31089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737360"/>
            <a:ext cx="2011680" cy="7315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810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2651760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2560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components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291840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3200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implementations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3931920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38404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AFT coverage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72400" y="1371600"/>
            <a:ext cx="182880" cy="1828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42" name="Shape 40"/>
          <p:cNvSpPr/>
          <p:nvPr/>
        </p:nvSpPr>
        <p:spPr>
          <a:xfrm>
            <a:off x="6903720" y="1737360"/>
            <a:ext cx="2011680" cy="31089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03720" y="1737360"/>
            <a:ext cx="2011680" cy="7315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0" y="1810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0372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40880" y="2651760"/>
            <a:ext cx="109728" cy="109728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48" name="Text 46"/>
          <p:cNvSpPr/>
          <p:nvPr/>
        </p:nvSpPr>
        <p:spPr>
          <a:xfrm>
            <a:off x="7223760" y="2560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chaos experiments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40880" y="3291840"/>
            <a:ext cx="109728" cy="109728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50" name="Text 48"/>
          <p:cNvSpPr/>
          <p:nvPr/>
        </p:nvSpPr>
        <p:spPr>
          <a:xfrm>
            <a:off x="7223760" y="3200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monitoring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40880" y="3931920"/>
            <a:ext cx="109728" cy="109728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52" name="Text 50"/>
          <p:cNvSpPr/>
          <p:nvPr/>
        </p:nvSpPr>
        <p:spPr>
          <a:xfrm>
            <a:off x="7223760" y="38404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to Begin the Initiative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rgbClr val="15295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Component Priority List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with PCC adoption data and opinionated tech 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0" y="1600200"/>
            <a:ext cx="1371600" cy="2743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8046720" cy="731520"/>
          </a:xfrm>
          <a:prstGeom prst="rect">
            <a:avLst/>
          </a:prstGeom>
          <a:solidFill>
            <a:srgbClr val="15295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Chaos Testing Infrastructure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624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chaos engineering tools and establish baselines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Team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2468880"/>
            <a:ext cx="1371600" cy="2743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solidFill>
            <a:srgbClr val="15295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16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Defect Validation Audit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all fixed defects for chaos test and AFT coverage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Team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3337560"/>
            <a:ext cx="1371600" cy="2743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5295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7160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Success Metrics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4361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tracking for all KPIs and progress indicators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4160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4206240"/>
            <a:ext cx="1371600" cy="2743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|  Contact: Photon Framework Resiliency Team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143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Opinionated Tech Stack and PCC high-adoption components with defined in/out of scope boundaries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73152" cy="1143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Impact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downtime, improved customer trust, cost savings vs continued incidents and technical debt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31720"/>
            <a:ext cx="73152" cy="1143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Approach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Three-step methodology: Validate fixes → Audit existing → Address gaps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331720"/>
            <a:ext cx="73152" cy="1143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testing across infrastructure, network, application, and data failure scenarios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11880"/>
            <a:ext cx="73152" cy="1143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AFT Coverage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for all resiliency scenarios integrated into CI/CD pipeline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1480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611880"/>
            <a:ext cx="73152" cy="1143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Success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69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criteria: 100% chaos coverage, 100% AFT coverage, &lt;15 min MTTR, &lt;3 incidents/month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a more resilient Photon Framework together!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Photon Framework Resiliency - Technical Document</dc:title>
  <dc:subject>Resiliency Analysis, Impact Assessment and Roadmap</dc:subject>
  <dc:creator>Photon Framework Team</dc:creator>
  <cp:lastModifiedBy>Photon Framework Team</cp:lastModifiedBy>
  <cp:revision>1</cp:revision>
  <dcterms:created xsi:type="dcterms:W3CDTF">2026-02-01T17:27:01Z</dcterms:created>
  <dcterms:modified xsi:type="dcterms:W3CDTF">2026-02-01T17:27:01Z</dcterms:modified>
</cp:coreProperties>
</file>